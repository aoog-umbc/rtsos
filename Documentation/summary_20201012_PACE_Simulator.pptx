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4" r:id="rId4"/>
    <p:sldId id="257" r:id="rId5"/>
    <p:sldId id="258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22"/>
    <p:restoredTop sz="96327"/>
  </p:normalViewPr>
  <p:slideViewPr>
    <p:cSldViewPr snapToGrid="0" snapToObjects="1">
      <p:cViewPr varScale="1">
        <p:scale>
          <a:sx n="92" d="100"/>
          <a:sy n="92" d="100"/>
        </p:scale>
        <p:origin x="192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FDD7-A708-2946-BAA5-1A6BAE77C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2E8029-E29A-E64C-AABE-0BF78E202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16BDE-8341-E642-8875-CAA47AF3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3C29-8E36-3A40-B874-2FF03BFF26CE}" type="datetimeFigureOut">
              <a:rPr lang="en-US" smtClean="0"/>
              <a:t>5/3/21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54B9E-5FBE-4A48-80D5-2BC10CB86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DFECE-97E5-2D44-BBC9-B1CC3BEE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2958E-DC2B-924A-845F-DA264CEE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50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B0903-3A89-CC46-BF1E-73FAA07A1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07D43-D7BC-0440-93EC-7EBF8B65F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DF2BC-CEEA-5A47-B0BE-8A6E9A31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3C29-8E36-3A40-B874-2FF03BFF26CE}" type="datetimeFigureOut">
              <a:rPr lang="en-US" smtClean="0"/>
              <a:t>5/3/21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829C2-71FD-5C47-87F5-15919D11A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5AADD-57D0-BE4E-BEAE-2BFC7FC76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2958E-DC2B-924A-845F-DA264CEE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39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8639-8922-2649-8008-335DEC2F5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48B86-4BA5-0642-A9E9-958DB52DC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FEBAD-6305-574E-9D50-6947B0889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3C29-8E36-3A40-B874-2FF03BFF26CE}" type="datetimeFigureOut">
              <a:rPr lang="en-US" smtClean="0"/>
              <a:t>5/3/21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FFDAF-AAB5-6943-BA2C-6BC95699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A7BB2-63B8-9C48-8368-D9CC1A1E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2958E-DC2B-924A-845F-DA264CEE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18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2CE6-3959-9044-A919-5C2A3476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8C2CB-C20D-0B41-9B9C-B7ACF30A6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D9DF-9BF0-044A-8B5A-FF3773BF5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84D16-61EC-3B44-8E52-A95CE24AB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3C29-8E36-3A40-B874-2FF03BFF26CE}" type="datetimeFigureOut">
              <a:rPr lang="en-US" smtClean="0"/>
              <a:t>5/3/21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0B385-4E73-904B-BA8E-11262107E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71713-0F57-4D42-A211-2014AAF18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2958E-DC2B-924A-845F-DA264CEE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11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E12D5-49B5-D94E-85AA-01DAEE33C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B569C-0C75-4943-9505-F22750DC9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FDDA5-873F-0A4F-8714-6B45FEF8B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49AFCB-4C85-9B4B-B6FD-1AD600C19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B27DD-48DF-4044-8837-AC55CCB07E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45096C-0429-0D41-BBC9-17D869785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3C29-8E36-3A40-B874-2FF03BFF26CE}" type="datetimeFigureOut">
              <a:rPr lang="en-US" smtClean="0"/>
              <a:t>5/3/21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52B45C-99DD-9A4D-8F09-2161CA946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C0DF3-0151-7D4F-B3D2-369F1095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2958E-DC2B-924A-845F-DA264CEE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20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8A11C-1C68-6F48-BAF0-0C5BA331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7AE592-B872-F145-9D0A-5C0DEC50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3C29-8E36-3A40-B874-2FF03BFF26CE}" type="datetimeFigureOut">
              <a:rPr lang="en-US" smtClean="0"/>
              <a:t>5/3/21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9A458-D036-B44B-96E9-D0C6DF522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0136BA-2287-6A43-838D-6B2C4343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2958E-DC2B-924A-845F-DA264CEE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99A7D0-4E2C-7E48-BB55-B4616497A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3C29-8E36-3A40-B874-2FF03BFF26CE}" type="datetimeFigureOut">
              <a:rPr lang="en-US" smtClean="0"/>
              <a:t>5/3/21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84F75D-58D5-9746-8557-D71116C3C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69851-C04D-224C-8410-530FEA20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2958E-DC2B-924A-845F-DA264CEE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028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74D4-1636-4B44-A364-661DF7394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CD85C-C04A-F748-9D53-090BBD777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DCA42-AF89-FB4A-B84E-1A826FD62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8790B-853C-E24E-B45C-53EFFA1CF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3C29-8E36-3A40-B874-2FF03BFF26CE}" type="datetimeFigureOut">
              <a:rPr lang="en-US" smtClean="0"/>
              <a:t>5/3/21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3DABC-F54E-0141-AB66-9FFB9D967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787C3-1AD5-0B40-B2B6-88FC89595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2958E-DC2B-924A-845F-DA264CEE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47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5E3C7-6163-204A-85C5-CB9148BD7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3FC3BA-E6E7-954F-A5D0-4A1A7A5812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38D4D-6E6B-7E41-92C7-3191939CB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57D95-33EB-CE4D-BB4B-5F2C2B32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3C29-8E36-3A40-B874-2FF03BFF26CE}" type="datetimeFigureOut">
              <a:rPr lang="en-US" smtClean="0"/>
              <a:t>5/3/21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27098-0245-6741-B49F-19D979CC8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C24BC-4B48-7E44-B226-A19A2F87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2958E-DC2B-924A-845F-DA264CEE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12ADC-5DEA-1B4B-B9D9-0737303A4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3A4A42-0615-A348-B796-B502938F0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6C898-B5A3-2D4B-B42C-3082B5A67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3C29-8E36-3A40-B874-2FF03BFF26CE}" type="datetimeFigureOut">
              <a:rPr lang="en-US" smtClean="0"/>
              <a:t>5/3/21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0FC62-E500-044C-84CB-C6C5C69ED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ECEA4-4AA2-F441-A3E7-265DBE00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2958E-DC2B-924A-845F-DA264CEE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05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A4C293-5E4F-F84A-98D9-42D4B4F010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FB4C3-18A2-154D-B5AB-C1210059E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17359-3C57-724A-9CAC-4EF020FCF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3C29-8E36-3A40-B874-2FF03BFF26CE}" type="datetimeFigureOut">
              <a:rPr lang="en-US" smtClean="0"/>
              <a:t>5/3/21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2CA8E-A50C-A24B-8D53-2D6A10F3E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7DC24-1848-7040-9AA3-0558D7E0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2958E-DC2B-924A-845F-DA264CEE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1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2E91F0-2647-5E45-8A21-324ABD76D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FC28D-07ED-5148-8497-758EFF0BE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DA250-F4FB-EB4E-8D44-832D697D0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13C29-8E36-3A40-B874-2FF03BFF26CE}" type="datetimeFigureOut">
              <a:rPr lang="en-US" smtClean="0"/>
              <a:t>5/3/21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A772F-2C5B-044F-BD75-39BAA82D7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A65D3-0E90-7840-8C14-962CC7064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2958E-DC2B-924A-845F-DA264CEE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8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B89A-F9F9-9E47-96D2-18E8E3AE1E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UMBC PACE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55768-E982-9546-8954-F05C6F459A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Oct 16, GSFC</a:t>
            </a:r>
          </a:p>
        </p:txBody>
      </p:sp>
    </p:spTree>
    <p:extLst>
      <p:ext uri="{BB962C8B-B14F-4D97-AF65-F5344CB8AC3E}">
        <p14:creationId xmlns:p14="http://schemas.microsoft.com/office/powerpoint/2010/main" val="389882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520DB-202F-8343-98BB-AD31D7734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6FF78-542F-3B46-A4DC-4FFAEFC17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PACE Simulator code is developed by </a:t>
            </a:r>
            <a:r>
              <a:rPr lang="en-US" dirty="0" err="1"/>
              <a:t>Pengwang</a:t>
            </a:r>
            <a:r>
              <a:rPr lang="en-US" dirty="0"/>
              <a:t> Zhai @ UMBC</a:t>
            </a:r>
          </a:p>
          <a:p>
            <a:pPr lvl="1"/>
            <a:r>
              <a:rPr lang="en-US" dirty="0"/>
              <a:t>The code is delivered to OBPG Oct 14, 2020 for testing. </a:t>
            </a:r>
          </a:p>
          <a:p>
            <a:pPr lvl="1"/>
            <a:r>
              <a:rPr lang="en-US" dirty="0"/>
              <a:t>Second version: May 3 2021 (</a:t>
            </a:r>
            <a:r>
              <a:rPr lang="en-US" dirty="0" err="1"/>
              <a:t>Pengwang</a:t>
            </a:r>
            <a:r>
              <a:rPr lang="en-US" dirty="0"/>
              <a:t> </a:t>
            </a:r>
            <a:r>
              <a:rPr lang="en-US" dirty="0" err="1"/>
              <a:t>Zhai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Further updates in the input scripts will be provided.</a:t>
            </a:r>
          </a:p>
          <a:p>
            <a:endParaRPr lang="en-US" dirty="0"/>
          </a:p>
          <a:p>
            <a:r>
              <a:rPr lang="en-US" dirty="0"/>
              <a:t>What does the simulator compute:</a:t>
            </a:r>
          </a:p>
          <a:p>
            <a:pPr lvl="1"/>
            <a:r>
              <a:rPr lang="en-US" dirty="0"/>
              <a:t>Radiance and irradiance</a:t>
            </a:r>
          </a:p>
          <a:p>
            <a:pPr lvl="2"/>
            <a:r>
              <a:rPr lang="en-US" dirty="0"/>
              <a:t>Viewing angles: both upwelling and downwelling</a:t>
            </a:r>
          </a:p>
          <a:p>
            <a:pPr lvl="2"/>
            <a:r>
              <a:rPr lang="en-US" dirty="0"/>
              <a:t>Wavelength: OCI, HARP2 and </a:t>
            </a:r>
            <a:r>
              <a:rPr lang="en-US" dirty="0" err="1"/>
              <a:t>SPEXone</a:t>
            </a:r>
            <a:r>
              <a:rPr lang="en-US" dirty="0"/>
              <a:t> bands</a:t>
            </a:r>
          </a:p>
          <a:p>
            <a:pPr lvl="2"/>
            <a:r>
              <a:rPr lang="en-US" dirty="0"/>
              <a:t>Sensor locations: TOA, BOA, TOO, and a customized air sensor height</a:t>
            </a:r>
          </a:p>
          <a:p>
            <a:pPr lvl="1"/>
            <a:r>
              <a:rPr lang="en-US" dirty="0"/>
              <a:t>Gas absorption: O2, O3, H2O, NO2, CH4</a:t>
            </a:r>
          </a:p>
          <a:p>
            <a:pPr lvl="1"/>
            <a:r>
              <a:rPr lang="en-US" dirty="0"/>
              <a:t>Inelastic scattering in ocean: Raman, CDOM and Chlorophyll fluorescence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23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02398-F761-4D4E-B27C-47BAE7F99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file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BA817-4409-BF44-9076-221DBBD3B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Format: hdf5</a:t>
            </a:r>
          </a:p>
          <a:p>
            <a:r>
              <a:rPr lang="en-US" dirty="0"/>
              <a:t>Dimensions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PhiV</a:t>
            </a:r>
            <a:r>
              <a:rPr lang="en-US" dirty="0"/>
              <a:t>                    Dataset {37}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ThetaV</a:t>
            </a:r>
            <a:r>
              <a:rPr lang="en-US" dirty="0"/>
              <a:t>                  Dataset {90}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WaveLength_PACE</a:t>
            </a:r>
            <a:r>
              <a:rPr lang="en-US" dirty="0"/>
              <a:t>         Dataset {352}   (OCI:239, </a:t>
            </a:r>
            <a:r>
              <a:rPr lang="en-US" dirty="0" err="1"/>
              <a:t>SPEXone</a:t>
            </a:r>
            <a:r>
              <a:rPr lang="en-US" dirty="0"/>
              <a:t>: 109, HARP2: 4)</a:t>
            </a:r>
          </a:p>
          <a:p>
            <a:r>
              <a:rPr lang="en-US" dirty="0"/>
              <a:t>Stokes vectors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Stokes_Vector_AirSensor</a:t>
            </a:r>
            <a:r>
              <a:rPr lang="en-US" dirty="0"/>
              <a:t> Dataset {4, 37, 90, 352}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Stokes_Vector_BOA</a:t>
            </a:r>
            <a:r>
              <a:rPr lang="en-US" dirty="0"/>
              <a:t>       Dataset {4, 37, 90, 352}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Stokes_Vector_TOA</a:t>
            </a:r>
            <a:r>
              <a:rPr lang="en-US" dirty="0"/>
              <a:t>       Dataset {4, 37, 90, 352}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Stokes_Vector_TOO</a:t>
            </a:r>
            <a:r>
              <a:rPr lang="en-US" dirty="0"/>
              <a:t>       Dataset {4, 37, 90, 352}</a:t>
            </a:r>
          </a:p>
          <a:p>
            <a:r>
              <a:rPr lang="en-US" dirty="0"/>
              <a:t>Many other attributes to define aerosol, ocean optical properties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02C972-13DC-384D-9302-1AA0E50A9020}"/>
              </a:ext>
            </a:extLst>
          </p:cNvPr>
          <p:cNvSpPr txBox="1">
            <a:spLocks/>
          </p:cNvSpPr>
          <p:nvPr/>
        </p:nvSpPr>
        <p:spPr>
          <a:xfrm>
            <a:off x="6786937" y="3720225"/>
            <a:ext cx="5819454" cy="1899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0893C6-09FD-A94E-87AC-CC2E3218A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696" y="193876"/>
            <a:ext cx="5486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940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230D-3F48-8F43-8542-2D16202A2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2160"/>
          </a:xfrm>
        </p:spPr>
        <p:txBody>
          <a:bodyPr/>
          <a:lstStyle/>
          <a:p>
            <a:r>
              <a:rPr lang="en-US" dirty="0"/>
              <a:t>Code structure and resources needed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746F05-4D42-A34E-8B67-8E7A9A531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83" y="1690688"/>
            <a:ext cx="2971407" cy="48631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541243-F85E-1F45-817B-7A757CC668DD}"/>
              </a:ext>
            </a:extLst>
          </p:cNvPr>
          <p:cNvSpPr txBox="1"/>
          <p:nvPr/>
        </p:nvSpPr>
        <p:spPr>
          <a:xfrm>
            <a:off x="553983" y="1321356"/>
            <a:ext cx="402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source code structure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F411A-6646-AF4B-9184-FC476F34F87E}"/>
              </a:ext>
            </a:extLst>
          </p:cNvPr>
          <p:cNvSpPr/>
          <p:nvPr/>
        </p:nvSpPr>
        <p:spPr>
          <a:xfrm>
            <a:off x="4051140" y="1782412"/>
            <a:ext cx="747646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simulator code is run independently for each case: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each run require its own input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 CPU hour per case (depend)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Output data size: 72M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Memory requirement: 16G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854C8A-E0FF-2B47-A2C0-78D6540CBDFB}"/>
              </a:ext>
            </a:extLst>
          </p:cNvPr>
          <p:cNvSpPr txBox="1"/>
          <p:nvPr/>
        </p:nvSpPr>
        <p:spPr>
          <a:xfrm>
            <a:off x="4051140" y="3987740"/>
            <a:ext cx="70565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python script is provided to configure the input file: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Solar zenith angle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Aerosol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Optical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Ocean bio-optical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Inelastic scattering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etc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7872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DBCEC-8973-DF4E-9311-1D012D6B8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30" y="1620141"/>
            <a:ext cx="4637926" cy="3352552"/>
          </a:xfrm>
        </p:spPr>
        <p:txBody>
          <a:bodyPr>
            <a:noAutofit/>
          </a:bodyPr>
          <a:lstStyle/>
          <a:p>
            <a:pPr marL="57150" indent="-285750">
              <a:buFont typeface="Wingdings" pitchFamily="2" charset="2"/>
              <a:buChar char="q"/>
            </a:pPr>
            <a:r>
              <a:rPr lang="en-US" sz="1800" dirty="0"/>
              <a:t>5.000000        #wind speed </a:t>
            </a:r>
          </a:p>
          <a:p>
            <a:pPr marL="57150" indent="-285750">
              <a:buFont typeface="Wingdings" pitchFamily="2" charset="2"/>
              <a:buChar char="q"/>
            </a:pPr>
            <a:r>
              <a:rPr lang="en-US" sz="1800" dirty="0"/>
              <a:t>30.000000       #THETA0 in degrees </a:t>
            </a:r>
          </a:p>
          <a:p>
            <a:pPr marL="57150" indent="-285750">
              <a:buFont typeface="Wingdings" pitchFamily="2" charset="2"/>
              <a:buChar char="q"/>
            </a:pPr>
            <a:r>
              <a:rPr lang="en-US" sz="1800" dirty="0"/>
              <a:t>0.100000        #TAU550 </a:t>
            </a:r>
          </a:p>
          <a:p>
            <a:pPr marL="57150" indent="-285750">
              <a:buFont typeface="Wingdings" pitchFamily="2" charset="2"/>
              <a:buChar char="q"/>
            </a:pPr>
            <a:r>
              <a:rPr lang="en-US" sz="1800" dirty="0"/>
              <a:t>3        #Relative Humidity IRH=1,5,</a:t>
            </a:r>
          </a:p>
          <a:p>
            <a:pPr marL="514350" lvl="2" indent="-285750"/>
            <a:r>
              <a:rPr lang="en-US" sz="1400" dirty="0"/>
              <a:t>   RH=[0.50,0.70,0.80,0.90,0.95] </a:t>
            </a:r>
          </a:p>
          <a:p>
            <a:pPr marL="57150" indent="-285750">
              <a:buFont typeface="Wingdings" pitchFamily="2" charset="2"/>
              <a:buChar char="q"/>
            </a:pPr>
            <a:r>
              <a:rPr lang="en-US" sz="1800" dirty="0"/>
              <a:t>16        #IAEROSOL=1,20. </a:t>
            </a:r>
          </a:p>
          <a:p>
            <a:pPr marL="514350" lvl="2" indent="-285750"/>
            <a:r>
              <a:rPr lang="en-US" sz="1600" dirty="0"/>
              <a:t>1-10 is </a:t>
            </a:r>
            <a:r>
              <a:rPr lang="en-US" sz="1600" dirty="0" err="1"/>
              <a:t>Shettle</a:t>
            </a:r>
            <a:r>
              <a:rPr lang="en-US" sz="1600" dirty="0"/>
              <a:t> and Fenn, </a:t>
            </a:r>
          </a:p>
          <a:p>
            <a:pPr marL="514350" lvl="2" indent="-285750"/>
            <a:r>
              <a:rPr lang="en-US" sz="1600" dirty="0"/>
              <a:t>11-20 is Ahmad model </a:t>
            </a:r>
          </a:p>
          <a:p>
            <a:pPr marL="57150" indent="-285750">
              <a:buFont typeface="Wingdings" pitchFamily="2" charset="2"/>
              <a:buChar char="q"/>
            </a:pPr>
            <a:r>
              <a:rPr lang="en-US" sz="1800" dirty="0"/>
              <a:t>0   #OCEAN_CASE_SELECT, </a:t>
            </a:r>
          </a:p>
          <a:p>
            <a:pPr marL="514350" lvl="2" indent="-285750"/>
            <a:r>
              <a:rPr lang="en-US" sz="1600" dirty="0"/>
              <a:t>case 0 (atmosphere only), </a:t>
            </a:r>
          </a:p>
          <a:p>
            <a:pPr marL="514350" lvl="2" indent="-285750"/>
            <a:r>
              <a:rPr lang="en-US" sz="1600" dirty="0"/>
              <a:t>case 1 [</a:t>
            </a:r>
            <a:r>
              <a:rPr lang="en-US" sz="1600" dirty="0" err="1"/>
              <a:t>Chla</a:t>
            </a:r>
            <a:r>
              <a:rPr lang="en-US" sz="1600" dirty="0"/>
              <a:t>] parameterization, </a:t>
            </a:r>
          </a:p>
          <a:p>
            <a:pPr marL="514350" lvl="2" indent="-285750"/>
            <a:r>
              <a:rPr lang="en-US" sz="1600" dirty="0"/>
              <a:t>case 2 [</a:t>
            </a:r>
            <a:r>
              <a:rPr lang="en-US" sz="1600" dirty="0" err="1"/>
              <a:t>Chla</a:t>
            </a:r>
            <a:r>
              <a:rPr lang="en-US" sz="1600" dirty="0"/>
              <a:t>]+Sediment,</a:t>
            </a:r>
          </a:p>
          <a:p>
            <a:pPr marL="514350" lvl="2" indent="-285750"/>
            <a:r>
              <a:rPr lang="en-US" sz="1600" dirty="0"/>
              <a:t> case 3: seven parameter model</a:t>
            </a:r>
          </a:p>
          <a:p>
            <a:pPr lvl="2">
              <a:buFont typeface="Wingdings" pitchFamily="2" charset="2"/>
              <a:buChar char="q"/>
            </a:pPr>
            <a:endParaRPr lang="en-US" sz="1200" b="1" dirty="0"/>
          </a:p>
          <a:p>
            <a:pPr>
              <a:buFont typeface="Wingdings" pitchFamily="2" charset="2"/>
              <a:buChar char="q"/>
            </a:pPr>
            <a:endParaRPr lang="en-US" sz="2000" b="1" dirty="0"/>
          </a:p>
          <a:p>
            <a:pPr>
              <a:buFont typeface="Wingdings" pitchFamily="2" charset="2"/>
              <a:buChar char="q"/>
            </a:pPr>
            <a:endParaRPr lang="en-US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3681E0-95E5-0C48-8388-EF4CC3ED2535}"/>
              </a:ext>
            </a:extLst>
          </p:cNvPr>
          <p:cNvSpPr/>
          <p:nvPr/>
        </p:nvSpPr>
        <p:spPr>
          <a:xfrm>
            <a:off x="5859694" y="1620141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0.010000        #</a:t>
            </a:r>
            <a:r>
              <a:rPr lang="en-US" dirty="0" err="1"/>
              <a:t>CHLa</a:t>
            </a:r>
            <a:r>
              <a:rPr lang="en-US" dirty="0"/>
              <a:t>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1.020000        #PHYTOPLANKTON_INDEX_REFRACTION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3.000000        #PHYTOPLANKTON_SPECTRAL_SLOPE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1.200000        #SEDIMENT_INDEX_REFRACTION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4.000000        #SEDIMENT_SPECTRAL_SLOPE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0.000000        #SEDIMENT_CONCENTRATION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1.000000        #adg440 (1/m), range: 0.0:2.5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0.050000        #bbp660 (1/m), range 0:0.1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0.010000      #Bp660_BackscatterFraction, range 0"0.05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0.015000        #</a:t>
            </a:r>
            <a:r>
              <a:rPr lang="en-US" dirty="0" err="1"/>
              <a:t>Sdg</a:t>
            </a:r>
            <a:r>
              <a:rPr lang="en-US" dirty="0"/>
              <a:t> exponential spectral slope of dg absorption (1/nm) range: 0.01:0.02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0.300000        #</a:t>
            </a:r>
            <a:r>
              <a:rPr lang="en-US" dirty="0" err="1"/>
              <a:t>Sbp</a:t>
            </a:r>
            <a:r>
              <a:rPr lang="en-US" dirty="0"/>
              <a:t> power spectral slope of backscattering coefficient (1/nm) range: 0:0.5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0.010000       #</a:t>
            </a:r>
            <a:r>
              <a:rPr lang="en-US" dirty="0" err="1"/>
              <a:t>S_Bp</a:t>
            </a:r>
            <a:r>
              <a:rPr lang="en-US" dirty="0"/>
              <a:t> power spectral slope of backscattering fraction (1/nm) range: -0.2:0.2 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6D5F8D1-9345-A74B-ABDC-BCF16CC81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Input file example</a:t>
            </a:r>
          </a:p>
        </p:txBody>
      </p:sp>
    </p:spTree>
    <p:extLst>
      <p:ext uri="{BB962C8B-B14F-4D97-AF65-F5344CB8AC3E}">
        <p14:creationId xmlns:p14="http://schemas.microsoft.com/office/powerpoint/2010/main" val="2326172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AF818-F8F6-6549-8BE1-35191BB90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7" y="1810214"/>
            <a:ext cx="5812604" cy="504778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1800" dirty="0"/>
              <a:t>20        #NCOLINPUT 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40        #NQUADAINPUT 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60        #NQUADOINPUT 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1        #CHLA_HOMOGENEITY, 1=.true. 0=.false. 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1        #OCEAN_RAMAN_FLAG, 1=.true. 0=.false. 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1        #OCEAN_FCHLA_FLAG, 1=.true. 0=.false. 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1        #OCEAN_FCDOM_FLAG, 1=.true. 0=.false. 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1              #AP_SELECT, 1 </a:t>
            </a:r>
            <a:r>
              <a:rPr lang="en-US" sz="1800" dirty="0" err="1"/>
              <a:t>Bricaud</a:t>
            </a:r>
            <a:r>
              <a:rPr lang="en-US" sz="1800" dirty="0"/>
              <a:t> LUT, 2 </a:t>
            </a:r>
            <a:r>
              <a:rPr lang="en-US" sz="1800" dirty="0" err="1"/>
              <a:t>Mixure</a:t>
            </a:r>
            <a:r>
              <a:rPr lang="en-US" sz="1800" dirty="0"/>
              <a:t> of </a:t>
            </a:r>
            <a:r>
              <a:rPr lang="en-US" sz="1800" dirty="0" err="1"/>
              <a:t>pico</a:t>
            </a:r>
            <a:r>
              <a:rPr lang="en-US" sz="1800" dirty="0"/>
              <a:t> and micron cells in </a:t>
            </a:r>
            <a:r>
              <a:rPr lang="en-US" sz="1800" dirty="0" err="1"/>
              <a:t>Ciott</a:t>
            </a:r>
            <a:r>
              <a:rPr lang="en-US" sz="1800" dirty="0"/>
              <a:t> et al. 2002 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0     #</a:t>
            </a:r>
            <a:r>
              <a:rPr lang="en-US" sz="1800" dirty="0" err="1"/>
              <a:t>monochromatic_flag</a:t>
            </a:r>
            <a:r>
              <a:rPr lang="en-US" sz="1800" dirty="0"/>
              <a:t> 1=.true. 0=.false. 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0        #HYSPECTRAL_FLAG, 1=.true. 0=.false. 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0        #NPQ_FLAG, 1=.true. 0=.false. 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1        #OCEAN_PHMX_ONE, 1=.true. 0=.false. 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4DC29D-8521-1042-B51F-4CAFFA5C3C30}"/>
              </a:ext>
            </a:extLst>
          </p:cNvPr>
          <p:cNvSpPr/>
          <p:nvPr/>
        </p:nvSpPr>
        <p:spPr>
          <a:xfrm>
            <a:off x="6167921" y="1810214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0        #</a:t>
            </a:r>
            <a:r>
              <a:rPr lang="en-US" dirty="0" err="1"/>
              <a:t>atmos_zero</a:t>
            </a:r>
            <a:r>
              <a:rPr lang="en-US" dirty="0"/>
              <a:t>, 1=.true. 0=.false.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0        #SUNGLINT_INPUT, 0 include sun glint 1 no sun glint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0        #GAS_ABS_FLAG, 1=.true. 0=.false.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345.660000       #ozone column amount in Dobson Unit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1.438700       #water vapor column amount in cm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1013.000000       # surface pressure in mb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0        #</a:t>
            </a:r>
            <a:r>
              <a:rPr lang="en-US" dirty="0" err="1"/>
              <a:t>wv_seg_flag</a:t>
            </a:r>
            <a:r>
              <a:rPr lang="en-US" dirty="0"/>
              <a:t>, 0: all; 1: seg1+3only; 2: seg2only; 3 seg1+2+3; 4: seg4only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2.200000       # </a:t>
            </a:r>
            <a:r>
              <a:rPr lang="en-US" dirty="0" err="1"/>
              <a:t>AirSensor_Height</a:t>
            </a:r>
            <a:r>
              <a:rPr lang="en-US" dirty="0"/>
              <a:t> unit km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1       # pseudospherical flag, 0 turn off; 1: turn on 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 err="1"/>
              <a:t>afglus.dat</a:t>
            </a: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output_ps_OceanCase0chla00.01mono0atmoszero0sg0gasflag0wv_seg_flag0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3B86BE3-3217-674A-90C9-8AE8BB484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Input file example (continued)</a:t>
            </a:r>
          </a:p>
        </p:txBody>
      </p:sp>
    </p:spTree>
    <p:extLst>
      <p:ext uri="{BB962C8B-B14F-4D97-AF65-F5344CB8AC3E}">
        <p14:creationId xmlns:p14="http://schemas.microsoft.com/office/powerpoint/2010/main" val="1674278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1167</Words>
  <Application>Microsoft Macintosh PowerPoint</Application>
  <PresentationFormat>Widescreen</PresentationFormat>
  <Paragraphs>92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UMBC PACE Simulator</vt:lpstr>
      <vt:lpstr>Basic information</vt:lpstr>
      <vt:lpstr>Output file example</vt:lpstr>
      <vt:lpstr>Code structure and resources needed</vt:lpstr>
      <vt:lpstr>Input file example</vt:lpstr>
      <vt:lpstr>Input file example (continued)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UMBC PACE Simulator</dc:title>
  <dc:creator>Gao, Meng (GSFC-616.0)[SCIENCE SYSTEMS AND APPLICATIONS INC]</dc:creator>
  <cp:lastModifiedBy>Pengwang Zhai</cp:lastModifiedBy>
  <cp:revision>26</cp:revision>
  <dcterms:created xsi:type="dcterms:W3CDTF">2020-10-16T12:39:31Z</dcterms:created>
  <dcterms:modified xsi:type="dcterms:W3CDTF">2021-05-03T14:57:25Z</dcterms:modified>
</cp:coreProperties>
</file>